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1" d="100"/>
          <a:sy n="131" d="100"/>
        </p:scale>
        <p:origin x="428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41254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8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23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/>
          <p:nvPr/>
        </p:nvSpPr>
        <p:spPr>
          <a:xfrm>
            <a:off x="731520" y="914400"/>
            <a:ext cx="7680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600" b="1" kern="0" spc="1200" dirty="0"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YET</a:t>
            </a:r>
            <a:endParaRPr lang="en-US" sz="9600" dirty="0"/>
          </a:p>
        </p:txBody>
      </p:sp>
      <p:sp>
        <p:nvSpPr>
          <p:cNvPr id="5" name="Text 2"/>
          <p:cNvSpPr/>
          <p:nvPr/>
        </p:nvSpPr>
        <p:spPr>
          <a:xfrm>
            <a:off x="777240" y="2651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Engineering Takeoff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777240" y="3291840"/>
            <a:ext cx="2286000" cy="36576"/>
          </a:xfrm>
          <a:prstGeom prst="rect">
            <a:avLst/>
          </a:prstGeom>
          <a:solidFill>
            <a:srgbClr val="FFD23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777240" y="3520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E8E0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yet, but we will ship it.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77240" y="4297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Identity Guide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0" y="42976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유니콘주식회사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D23F"/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2D1B6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731520"/>
            <a:ext cx="457200" cy="4572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40080" y="1280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Story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640080" y="173736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Power</a:t>
            </a:r>
            <a:endParaRPr lang="en-US" sz="3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 Yet</a:t>
            </a:r>
            <a:endParaRPr lang="en-US" sz="3600" dirty="0"/>
          </a:p>
        </p:txBody>
      </p:sp>
      <p:sp>
        <p:nvSpPr>
          <p:cNvPr id="7" name="Shape 3"/>
          <p:cNvSpPr/>
          <p:nvPr/>
        </p:nvSpPr>
        <p:spPr>
          <a:xfrm>
            <a:off x="640080" y="3383280"/>
            <a:ext cx="2743200" cy="27432"/>
          </a:xfrm>
          <a:prstGeom prst="rect">
            <a:avLst/>
          </a:prstGeom>
          <a:solidFill>
            <a:srgbClr val="FFD23F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4"/>
          <p:cNvSpPr/>
          <p:nvPr/>
        </p:nvSpPr>
        <p:spPr>
          <a:xfrm>
            <a:off x="640080" y="35661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i="1" dirty="0">
                <a:solidFill>
                  <a:srgbClr val="E8E0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"실패는 끝이 아니라 과정이다.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i="1" dirty="0">
                <a:solidFill>
                  <a:srgbClr val="E8E0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Yet이라는 단 한 단어가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i="1" dirty="0">
                <a:solidFill>
                  <a:srgbClr val="E8E0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학습자의 뇌를 바꾼다."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640080" y="4526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Carol Dweck, Stanford University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4389120" y="64008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1B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아직 못하는 게 아니라, 아직 안 한 것뿐.</a:t>
            </a:r>
            <a:endParaRPr lang="en-US" sz="2000" dirty="0"/>
          </a:p>
        </p:txBody>
      </p:sp>
      <p:sp>
        <p:nvSpPr>
          <p:cNvPr id="11" name="Shape 7"/>
          <p:cNvSpPr/>
          <p:nvPr/>
        </p:nvSpPr>
        <p:spPr>
          <a:xfrm>
            <a:off x="4389120" y="1554480"/>
            <a:ext cx="420624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173736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120640" y="1645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Mindset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5120640" y="193852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D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스탠포드 대학은 'F(Fail)' 대신 'Not Yet'을 도입하여 학습 포기율을 획기적으로 낮춤. 실패를 끝이 아닌 과정으로 인식하는 프레이밍의 힘.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4389120" y="2651760"/>
            <a:ext cx="420624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7720" y="2834640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120640" y="2743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Takeoff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5120640" y="303580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D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YET은 'Your Engineering Takeoff'의 약자.  </a:t>
            </a:r>
            <a:r>
              <a:rPr lang="ko-KR" altLang="en-US" sz="950" dirty="0">
                <a:solidFill>
                  <a:srgbClr val="3D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교육 </a:t>
            </a:r>
            <a:r>
              <a:rPr lang="en-US" sz="950" dirty="0">
                <a:solidFill>
                  <a:srgbClr val="3D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 </a:t>
            </a:r>
            <a:r>
              <a:rPr lang="en-US" sz="950" dirty="0" err="1">
                <a:solidFill>
                  <a:srgbClr val="3D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과정을</a:t>
            </a:r>
            <a:r>
              <a:rPr lang="en-US" sz="950" dirty="0">
                <a:solidFill>
                  <a:srgbClr val="3D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950" dirty="0">
                <a:solidFill>
                  <a:srgbClr val="3D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950" dirty="0" err="1">
                <a:solidFill>
                  <a:srgbClr val="3D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경험하며</a:t>
            </a:r>
            <a:r>
              <a:rPr lang="en-US" sz="950" dirty="0">
                <a:solidFill>
                  <a:srgbClr val="3D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엔지니어링 역량 도약의 시작점.</a:t>
            </a:r>
            <a:endParaRPr lang="en-US" sz="950" dirty="0"/>
          </a:p>
        </p:txBody>
      </p:sp>
      <p:sp>
        <p:nvSpPr>
          <p:cNvPr id="19" name="Shape 13"/>
          <p:cNvSpPr/>
          <p:nvPr/>
        </p:nvSpPr>
        <p:spPr>
          <a:xfrm>
            <a:off x="4389120" y="3749040"/>
            <a:ext cx="420624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7720" y="3931920"/>
            <a:ext cx="365760" cy="36576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120640" y="3840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It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5120640" y="413308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D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아이디어에서 배포까지. 매 스프린트마다 'Not yet'에서 한 발짝 전진하여, 결국 'We shipped it!'이라는 성취에 도달.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MEANING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8229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+mj-ea"/>
                <a:ea typeface="+mj-ea"/>
                <a:cs typeface="Georgia" pitchFamily="34" charset="-120"/>
              </a:rPr>
              <a:t>3개의 의미 레이어</a:t>
            </a:r>
            <a:endParaRPr lang="en-US" sz="3200" dirty="0">
              <a:latin typeface="+mj-ea"/>
              <a:ea typeface="+mj-ea"/>
            </a:endParaRPr>
          </a:p>
        </p:txBody>
      </p:sp>
      <p:sp>
        <p:nvSpPr>
          <p:cNvPr id="5" name="Shape 2"/>
          <p:cNvSpPr/>
          <p:nvPr/>
        </p:nvSpPr>
        <p:spPr>
          <a:xfrm>
            <a:off x="640080" y="1691640"/>
            <a:ext cx="2560320" cy="2926080"/>
          </a:xfrm>
          <a:prstGeom prst="rect">
            <a:avLst/>
          </a:prstGeom>
          <a:solidFill>
            <a:srgbClr val="FFFFFF">
              <a:alpha val="92000"/>
            </a:srgbClr>
          </a:solidFill>
          <a:ln w="6350">
            <a:solidFill>
              <a:srgbClr val="FFD23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914400" y="18745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914400" y="24231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Yet (아직)</a:t>
            </a:r>
            <a:endParaRPr lang="en-US" sz="17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" name="Shape 5"/>
          <p:cNvSpPr/>
          <p:nvPr/>
        </p:nvSpPr>
        <p:spPr>
          <a:xfrm>
            <a:off x="914400" y="3291840"/>
            <a:ext cx="1097280" cy="27432"/>
          </a:xfrm>
          <a:prstGeom prst="rect">
            <a:avLst/>
          </a:prstGeom>
          <a:solidFill>
            <a:srgbClr val="FFD23F">
              <a:alpha val="6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914400" y="342900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아직 못하는 게 아니라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아직 안 한 것뿐.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성장 마인드셋의 핵심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474720" y="1691640"/>
            <a:ext cx="2560320" cy="2926080"/>
          </a:xfrm>
          <a:prstGeom prst="rect">
            <a:avLst/>
          </a:prstGeom>
          <a:solidFill>
            <a:srgbClr val="FFFFFF">
              <a:alpha val="92000"/>
            </a:srgbClr>
          </a:solidFill>
          <a:ln w="6350">
            <a:solidFill>
              <a:srgbClr val="FFD23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3749040" y="18745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3749040" y="24231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Your Engineering</a:t>
            </a:r>
            <a:endParaRPr lang="en-US" sz="17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7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Takeoff</a:t>
            </a:r>
            <a:endParaRPr lang="en-US" sz="17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3749040" y="3291840"/>
            <a:ext cx="1097280" cy="27432"/>
          </a:xfrm>
          <a:prstGeom prst="rect">
            <a:avLst/>
          </a:prstGeom>
          <a:solidFill>
            <a:srgbClr val="FFD23F">
              <a:alpha val="6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3749040" y="342900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당신의 엔지니어링 도약.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기획-설계-개발-배포의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전 과정 경험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309360" y="1691640"/>
            <a:ext cx="2560320" cy="2926080"/>
          </a:xfrm>
          <a:prstGeom prst="rect">
            <a:avLst/>
          </a:prstGeom>
          <a:solidFill>
            <a:srgbClr val="FFFFFF">
              <a:alpha val="92000"/>
            </a:srgbClr>
          </a:solidFill>
          <a:ln w="6350">
            <a:solidFill>
              <a:srgbClr val="FFD23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6583680" y="18745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3600" dirty="0"/>
          </a:p>
        </p:txBody>
      </p:sp>
      <p:sp>
        <p:nvSpPr>
          <p:cNvPr id="17" name="Text 14"/>
          <p:cNvSpPr/>
          <p:nvPr/>
        </p:nvSpPr>
        <p:spPr>
          <a:xfrm>
            <a:off x="6583680" y="24231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Power of Yet</a:t>
            </a:r>
            <a:endParaRPr lang="en-US" sz="17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6583680" y="3291840"/>
            <a:ext cx="1097280" cy="27432"/>
          </a:xfrm>
          <a:prstGeom prst="rect">
            <a:avLst/>
          </a:prstGeom>
          <a:solidFill>
            <a:srgbClr val="FFD23F">
              <a:alpha val="6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6583680" y="342900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캐롤 드웩의 교육 철학.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실패를 끝이 아닌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과정으로 전환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D1B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4A2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SLOGAN SYSTEM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슬로건 체계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7863840" cy="1280160"/>
          </a:xfrm>
          <a:prstGeom prst="rect">
            <a:avLst/>
          </a:prstGeom>
          <a:solidFill>
            <a:srgbClr val="2D1B69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914400" y="169164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D23F"/>
                </a:solidFill>
              </a:rPr>
              <a:t>영문 슬로건</a:t>
            </a:r>
            <a:endParaRPr lang="en-US" sz="1000" dirty="0"/>
          </a:p>
          <a:p>
            <a:pPr marL="0" indent="0">
              <a:buNone/>
            </a:pPr>
            <a:r>
              <a:rPr lang="en-US" sz="2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"Not yet, but we will ship it."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3063240"/>
            <a:ext cx="37490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F5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68680" y="315468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2C8A"/>
                </a:solidFill>
              </a:rPr>
              <a:t>한국어 슬로건</a:t>
            </a:r>
            <a:endParaRPr lang="en-US" sz="1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2D1B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"아직, 이라서 시작한다."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3063240"/>
            <a:ext cx="37490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F5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983480" y="315468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2C8A"/>
                </a:solidFill>
              </a:rPr>
              <a:t>교육 과정 슬로건</a:t>
            </a:r>
            <a:endParaRPr lang="en-US" sz="1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2D1B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"Think, Build, Ship"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2D1B69"/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365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 JOURNEY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6858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교육생 여정과 브랜드 내러티브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640080" y="1554480"/>
            <a:ext cx="246888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914400" y="1737360"/>
            <a:ext cx="1097280" cy="292608"/>
          </a:xfrm>
          <a:prstGeom prst="rect">
            <a:avLst/>
          </a:prstGeom>
          <a:solidFill>
            <a:srgbClr val="FFD23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914400" y="173736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입과 전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0080" y="22402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😟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914400" y="292608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1A1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 can't build</a:t>
            </a:r>
            <a:endParaRPr lang="en-US" sz="13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1A1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 native apps."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10896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D23F"/>
                </a:solidFill>
              </a:rPr>
              <a:t>→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3566160" y="1554480"/>
            <a:ext cx="2468880" cy="2743200"/>
          </a:xfrm>
          <a:prstGeom prst="rect">
            <a:avLst/>
          </a:prstGeom>
          <a:solidFill>
            <a:srgbClr val="FFD23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3840480" y="1737360"/>
            <a:ext cx="1097280" cy="292608"/>
          </a:xfrm>
          <a:prstGeom prst="rect">
            <a:avLst/>
          </a:prstGeom>
          <a:solidFill>
            <a:srgbClr val="2D1B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3840480" y="173736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교육 중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566160" y="22402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💪</a:t>
            </a:r>
            <a:endParaRPr lang="en-US" sz="3600" dirty="0"/>
          </a:p>
        </p:txBody>
      </p:sp>
      <p:sp>
        <p:nvSpPr>
          <p:cNvPr id="15" name="Text 12"/>
          <p:cNvSpPr/>
          <p:nvPr/>
        </p:nvSpPr>
        <p:spPr>
          <a:xfrm>
            <a:off x="3840480" y="292608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2D1B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 can't build</a:t>
            </a:r>
            <a:endParaRPr lang="en-US" sz="13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2D1B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 native apps...</a:t>
            </a:r>
            <a:endParaRPr lang="en-US" sz="13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2D1B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YET."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03504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D23F"/>
                </a:solidFill>
              </a:rPr>
              <a:t>→</a:t>
            </a:r>
            <a:endParaRPr lang="en-US" sz="2400" dirty="0"/>
          </a:p>
        </p:txBody>
      </p:sp>
      <p:sp>
        <p:nvSpPr>
          <p:cNvPr id="17" name="Shape 14"/>
          <p:cNvSpPr/>
          <p:nvPr/>
        </p:nvSpPr>
        <p:spPr>
          <a:xfrm>
            <a:off x="6492240" y="1554480"/>
            <a:ext cx="2468880" cy="2743200"/>
          </a:xfrm>
          <a:prstGeom prst="rect">
            <a:avLst/>
          </a:prstGeom>
          <a:solidFill>
            <a:srgbClr val="2D1B69">
              <a:alpha val="50000"/>
            </a:srgbClr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6766560" y="1737360"/>
            <a:ext cx="1097280" cy="292608"/>
          </a:xfrm>
          <a:prstGeom prst="rect">
            <a:avLst/>
          </a:prstGeom>
          <a:solidFill>
            <a:srgbClr val="FFD23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6766560" y="173736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수료 후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492240" y="22402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🚀</a:t>
            </a:r>
            <a:endParaRPr lang="en-US" sz="3600" dirty="0"/>
          </a:p>
        </p:txBody>
      </p:sp>
      <p:sp>
        <p:nvSpPr>
          <p:cNvPr id="21" name="Text 18"/>
          <p:cNvSpPr/>
          <p:nvPr/>
        </p:nvSpPr>
        <p:spPr>
          <a:xfrm>
            <a:off x="6766560" y="292608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"We shipped it.</a:t>
            </a:r>
            <a:endParaRPr lang="en-US" sz="13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are YET Crew."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D1B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4A2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IDENTITY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컬러 &amp; 타이포그래피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1417320" cy="1005840"/>
          </a:xfrm>
          <a:prstGeom prst="rect">
            <a:avLst/>
          </a:prstGeom>
          <a:solidFill>
            <a:srgbClr val="2D1B69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#2D1B69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Purple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0" y="1417320"/>
            <a:ext cx="1417320" cy="1005840"/>
          </a:xfrm>
          <a:prstGeom prst="rect">
            <a:avLst/>
          </a:prstGeom>
          <a:solidFill>
            <a:srgbClr val="4A2C8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286000" y="19659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#4A2C8A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0" y="25146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Purple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86000" y="274320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931920" y="1417320"/>
            <a:ext cx="1417320" cy="1005840"/>
          </a:xfrm>
          <a:prstGeom prst="rect">
            <a:avLst/>
          </a:prstGeom>
          <a:solidFill>
            <a:srgbClr val="6B4DAB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931920" y="19659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#6B4DAB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931920" y="25146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Purple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931920" y="274320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577840" y="1417320"/>
            <a:ext cx="1417320" cy="1005840"/>
          </a:xfrm>
          <a:prstGeom prst="rect">
            <a:avLst/>
          </a:prstGeom>
          <a:solidFill>
            <a:srgbClr val="FFD23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577840" y="19659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1B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#FFD23F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577840" y="25146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Yellow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577840" y="274320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223760" y="1417320"/>
            <a:ext cx="1417320" cy="1005840"/>
          </a:xfrm>
          <a:prstGeom prst="rect">
            <a:avLst/>
          </a:prstGeom>
          <a:solidFill>
            <a:srgbClr val="F8F6FC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7223760" y="19659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3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#F8F6FC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223760" y="25146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 White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223760" y="274320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0080" y="3246120"/>
            <a:ext cx="7863840" cy="18288"/>
          </a:xfrm>
          <a:prstGeom prst="rect">
            <a:avLst/>
          </a:prstGeom>
          <a:solidFill>
            <a:srgbClr val="EDEB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40080" y="3429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2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" y="37947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D1B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YET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640080" y="42519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 |  Arial Black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200400" y="37947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A1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yet, but we will ship it.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200400" y="42519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 |  Georgia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583680" y="37947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D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아직, 이라서 시작한다.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583680" y="42519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 |  Calibri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2D1B69"/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D23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4A2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브랜드 활용 체계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56032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6459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6459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정식 명칭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77240" y="21031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D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D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CNA Bootcamp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83280" y="1463040"/>
            <a:ext cx="256032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164592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023360" y="16459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교육 과정명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611880" y="21031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D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 1기, YET 2기,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D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 3기 ...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217920" y="1463040"/>
            <a:ext cx="256032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1645920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858000" y="16459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수료생 커뮤니티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6446520" y="21031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D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 Crew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D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(옛 크루)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548640" y="3063240"/>
            <a:ext cx="256032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3246120"/>
            <a:ext cx="320040" cy="3200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88720" y="32461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해시태그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777240" y="37033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D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#YET #YETCrew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D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#NotYetButWeWillShipIt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3383280" y="3063240"/>
            <a:ext cx="256032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1880" y="3246120"/>
            <a:ext cx="320040" cy="32004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023360" y="32461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3611880" y="37033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D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yet-bootcamp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D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.unicorn.kubepia.com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6217920" y="3063240"/>
            <a:ext cx="256032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6520" y="3246120"/>
            <a:ext cx="320040" cy="32004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858000" y="32461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수료증</a:t>
            </a:r>
            <a:endParaRPr lang="en-US" sz="1200" dirty="0"/>
          </a:p>
        </p:txBody>
      </p:sp>
      <p:sp>
        <p:nvSpPr>
          <p:cNvPr id="28" name="Text 20"/>
          <p:cNvSpPr/>
          <p:nvPr/>
        </p:nvSpPr>
        <p:spPr>
          <a:xfrm>
            <a:off x="6446520" y="37033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D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 AI CNA Bootcamp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D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제n기 수료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365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6858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YET Crew — 수료생 문화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640080" y="1463040"/>
            <a:ext cx="3840480" cy="1371600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FFD23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1737360"/>
            <a:ext cx="411480" cy="411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508760" y="16459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D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 Fail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1508760" y="20574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8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실패를 두려워하지 않는 실험 문화.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8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빠르게 시도하고, 빠르게 배운다.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4846320" y="1463040"/>
            <a:ext cx="3840480" cy="1371600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FFD23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0640" y="1737360"/>
            <a:ext cx="411480" cy="4114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715000" y="16459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D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Crew Spirit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5715000" y="20574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8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혼자가 아닌 함께.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8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스프린트의 모든 순간을 팀으로 경험.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640080" y="3108960"/>
            <a:ext cx="3840480" cy="1371600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FFD23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3383280"/>
            <a:ext cx="411480" cy="4114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508760" y="3291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D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Ship It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1508760" y="37033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8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아이디어를 현실로.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8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배포까지 완주하는 성취감.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4846320" y="3108960"/>
            <a:ext cx="3840480" cy="1371600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FFD23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20640" y="3383280"/>
            <a:ext cx="411480" cy="4114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715000" y="3291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D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Growing</a:t>
            </a:r>
            <a:endParaRPr lang="en-US" sz="1600" dirty="0"/>
          </a:p>
        </p:txBody>
      </p:sp>
      <p:sp>
        <p:nvSpPr>
          <p:cNvPr id="20" name="Text 13"/>
          <p:cNvSpPr/>
          <p:nvPr/>
        </p:nvSpPr>
        <p:spPr>
          <a:xfrm>
            <a:off x="5715000" y="37033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8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수료 후에도 계속되는 성장.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8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 Crew 네트워크로 연결.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23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/>
          <p:nvPr/>
        </p:nvSpPr>
        <p:spPr>
          <a:xfrm>
            <a:off x="0" y="731520"/>
            <a:ext cx="9144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 kern="0" spc="1600" dirty="0"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YET</a:t>
            </a:r>
            <a:endParaRPr lang="en-US" sz="9600" dirty="0"/>
          </a:p>
        </p:txBody>
      </p:sp>
      <p:sp>
        <p:nvSpPr>
          <p:cNvPr id="5" name="Text 2"/>
          <p:cNvSpPr/>
          <p:nvPr/>
        </p:nvSpPr>
        <p:spPr>
          <a:xfrm>
            <a:off x="914400" y="2468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yet, but we will ship it.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아직, 이라서 시작한다.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40480" y="3703320"/>
            <a:ext cx="1463040" cy="36576"/>
          </a:xfrm>
          <a:prstGeom prst="rect">
            <a:avLst/>
          </a:prstGeom>
          <a:solidFill>
            <a:srgbClr val="FFD23F">
              <a:alpha val="6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914400" y="3931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유니콘주식회사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D23F"/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451</Words>
  <Application>Microsoft Office PowerPoint</Application>
  <PresentationFormat>화면 슬라이드 쇼(16:9)</PresentationFormat>
  <Paragraphs>133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6" baseType="lpstr">
      <vt:lpstr>Arial</vt:lpstr>
      <vt:lpstr>Arial Black</vt:lpstr>
      <vt:lpstr>Calibri</vt:lpstr>
      <vt:lpstr>Consolas</vt:lpstr>
      <vt:lpstr>Georgia</vt:lpstr>
      <vt:lpstr>Pretendard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YET Brand Identity</dc:title>
  <dc:subject>PptxGenJS Presentation</dc:subject>
  <dc:creator>유니콘주식회사</dc:creator>
  <cp:lastModifiedBy>해경 이</cp:lastModifiedBy>
  <cp:revision>3</cp:revision>
  <dcterms:created xsi:type="dcterms:W3CDTF">2026-02-18T07:01:20Z</dcterms:created>
  <dcterms:modified xsi:type="dcterms:W3CDTF">2026-02-18T07:20:37Z</dcterms:modified>
</cp:coreProperties>
</file>